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9" r:id="rId5"/>
    <p:sldId id="263" r:id="rId6"/>
    <p:sldId id="264" r:id="rId7"/>
    <p:sldId id="265" r:id="rId8"/>
    <p:sldId id="268" r:id="rId9"/>
    <p:sldId id="269" r:id="rId10"/>
    <p:sldId id="271" r:id="rId11"/>
    <p:sldId id="272" r:id="rId12"/>
    <p:sldId id="275" r:id="rId13"/>
    <p:sldId id="276" r:id="rId14"/>
    <p:sldId id="277" r:id="rId15"/>
    <p:sldId id="280" r:id="rId16"/>
    <p:sldId id="281" r:id="rId17"/>
    <p:sldId id="284" r:id="rId18"/>
    <p:sldId id="286" r:id="rId19"/>
    <p:sldId id="289" r:id="rId20"/>
    <p:sldId id="290" r:id="rId21"/>
    <p:sldId id="292" r:id="rId22"/>
    <p:sldId id="293" r:id="rId23"/>
    <p:sldId id="297" r:id="rId2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366838"/>
            <a:ext cx="80010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“绿卫士”——基于 ROS2 架构的智能花坛垃圾清理机器人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776538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2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                                     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571500" y="3557588"/>
            <a:ext cx="8001000" cy="219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25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5305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1963" r="1963"/>
          <a:stretch>
            <a:fillRect/>
          </a:stretch>
        </p:blipFill>
        <p:spPr>
          <a:xfrm>
            <a:off x="0" y="0"/>
            <a:ext cx="9144000" cy="535305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16162" b="16162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响应城市精细化管理趋势，推动环卫智能化升级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428750"/>
            <a:ext cx="8382000" cy="37338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5313" y="399544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城市治理转型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95313" y="4247852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城市治理正向智能化、精细化方向发展，对传统管理模式提出新要求，推动公共服务升级。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595313" y="3222427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环卫人力紧缺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5313" y="3474839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传统环卫面临招工难、人员老化问题，人力成本上升，作业效率受限。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595313" y="244941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运营成本高企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95313" y="2701826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人工与管理成本持续增长，传统模式难以为继，亟需降本增效的新方案。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595313" y="167640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科技赋能需求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95313" y="1928813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行业迫切需要技术手段弥补人力不足，提升作业质量，实现可持续发展。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186488" y="146685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AI技术成熟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186488" y="1719263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人工智能技术不断进步，为自动化设备提供核心技术支持，推动应用落地。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186488" y="223986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机器人应用兴起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86488" y="2492276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清洁机器人具备自主作业能力，可全天候运行，显著提升作业效率与覆盖范围。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186488" y="3222427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智能设备普及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86488" y="3474839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智能清洁设备进入规模化应用阶段，逐步替代部分人工，成为新型基础设施的一部分。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186488" y="420499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智慧城市建设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186488" y="4457402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自动化环卫装备助力城市精细化管理，提升城市形象，推动智慧城市全面发展。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16162" b="16162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市政环卫成本持续攀升，人工清洁效率瓶颈凸显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t="8333" b="8333"/>
          <a:stretch>
            <a:fillRect/>
          </a:stretch>
        </p:blipFill>
        <p:spPr>
          <a:xfrm>
            <a:off x="571500" y="1428750"/>
            <a:ext cx="1714500" cy="1428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1500" y="30480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人力成本高企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71500" y="3295650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城市环卫用工成本年均增长超8%，一线保洁员短缺问题日益严重。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 t="8333" b="8333"/>
          <a:stretch>
            <a:fillRect/>
          </a:stretch>
        </p:blipFill>
        <p:spPr>
          <a:xfrm>
            <a:off x="2667000" y="1428750"/>
            <a:ext cx="1714500" cy="1428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667000" y="30480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作业效率受限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2667000" y="3295650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传统人工清扫难以覆盖复杂绿化带区域，日均有效作业时间不足6小时。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t="8333" b="8333"/>
          <a:stretch>
            <a:fillRect/>
          </a:stretch>
        </p:blipFill>
        <p:spPr>
          <a:xfrm>
            <a:off x="4762500" y="1428750"/>
            <a:ext cx="1714500" cy="14287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762500" y="30480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卫生死角频现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4762500" y="3295650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花坛密集区、隔离带等狭窄空间垃圾堆积严重，清洁覆盖率不足60%。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rcRect t="8333" b="8333"/>
          <a:stretch>
            <a:fillRect/>
          </a:stretch>
        </p:blipFill>
        <p:spPr>
          <a:xfrm>
            <a:off x="6858000" y="1428750"/>
            <a:ext cx="1714500" cy="14287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858000" y="30480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管理难度加大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6858000" y="3295650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人员调度不均、监管困难，导致保洁质量波动大，难以实现标准化服务。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政策驱动智慧城市建设，智能装备迎来发展窗口期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34004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66888" y="15144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085850" y="19050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政策支持驱动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85850" y="2195513"/>
            <a:ext cx="1628775" cy="1295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国家推进智慧城市与城市更新行动，为智能环卫设备提供政策红利。各级政府加大财政投入，提升采购预算。有力推动行业向科技化、集约化转型。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548062" y="15144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867025" y="19050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财政投入增加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867025" y="2195513"/>
            <a:ext cx="1628775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政府持续加大智能化市政设施的资金支持。采购预算向高科技环卫设备倾斜。为设备研发与推广提供坚实保障。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329238" y="15144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48200" y="19050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技术门槛降低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48200" y="2195513"/>
            <a:ext cx="1628775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物联网、人工智能与机器人技术标准逐步完善。核心技术应用成本下降。显著提升了设备开发与部署效率。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110413" y="15144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429375" y="19050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行业转型升级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29375" y="2195513"/>
            <a:ext cx="1628775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传统环卫模式加速向智能化、自动化转变。提升作业效率与管理水平。实现资源优化配置与节能减排。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143625" y="3614737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648200" y="4005263"/>
            <a:ext cx="32575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试点成效显著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648200" y="4295775"/>
            <a:ext cx="32575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多地智慧环卫试点项目成果突出。验证了技术可行性与经济性。形成可复制、可推广的成熟模式。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2733675" y="3614737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1238250" y="4005263"/>
            <a:ext cx="32575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设备普及加速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238250" y="4295775"/>
            <a:ext cx="32575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基于政策与技术双重推动，智能清理设备快速落地应用。市场接受度不断提高。产业化进程明显加快。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16162" b="16162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目标客户聚焦市政部门与高端物业，需求明确且集中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428750"/>
            <a:ext cx="8382000" cy="35242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76713" y="3267075"/>
            <a:ext cx="790575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客户画像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2628900" y="155257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目标客户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19100" y="1924050"/>
            <a:ext cx="264318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市政环卫部门，具备稳定财政支持，采购需求长期持续。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419100" y="2381250"/>
            <a:ext cx="264318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大型物业公司，服务范围广，设备使用频率高。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2628900" y="3009900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采购特征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19100" y="3381375"/>
            <a:ext cx="26431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以政府招标为主，流程规范且透明度高。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419100" y="3629025"/>
            <a:ext cx="26431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企业集中采购，强调性价比与统一管理。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2628900" y="404812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决策特点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19100" y="4419600"/>
            <a:ext cx="26431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决策周期较长，涉及多部门审批与评估。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19100" y="4667250"/>
            <a:ext cx="26431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注重长期合作，订单持续性强且可预测。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029325" y="176212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核心关注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081713" y="2133600"/>
            <a:ext cx="26431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降本增效，追求设备投入产出比最优。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081713" y="2381250"/>
            <a:ext cx="26431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运维便捷，降低维护成本和停机时间。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029325" y="2800350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性能要求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081713" y="3171825"/>
            <a:ext cx="26431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设备实用性强，满足高频次作业场景。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081713" y="3419475"/>
            <a:ext cx="26431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运行可靠稳定，适应复杂户外环境。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029325" y="383857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服务需求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081713" y="4210050"/>
            <a:ext cx="26431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提供定期维护与快速响应技术支持。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081713" y="4457700"/>
            <a:ext cx="26431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支持远程监控与故障预警功能。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4352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1878" r="1878"/>
          <a:stretch>
            <a:fillRect/>
          </a:stretch>
        </p:blipFill>
        <p:spPr>
          <a:xfrm>
            <a:off x="0" y="0"/>
            <a:ext cx="9144000" cy="53435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搭载高性能计算单元与多模态传感器的硬件系统架构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37242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8675" y="1571625"/>
            <a:ext cx="1643063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75" dirty="0"/>
          </a:p>
        </p:txBody>
      </p:sp>
      <p:sp>
        <p:nvSpPr>
          <p:cNvPr id="8" name="Text 4"/>
          <p:cNvSpPr/>
          <p:nvPr/>
        </p:nvSpPr>
        <p:spPr>
          <a:xfrm>
            <a:off x="771525" y="2038350"/>
            <a:ext cx="1700213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核心算力平台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71525" y="2290763"/>
            <a:ext cx="1700213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采用树莓派5作为主控，提供高效低功耗的边缘计算能力。支持实时数据处理与AI推理任务。保障系统在本地完成复杂运算。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795588" y="1571625"/>
            <a:ext cx="1643063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75" dirty="0"/>
          </a:p>
        </p:txBody>
      </p:sp>
      <p:sp>
        <p:nvSpPr>
          <p:cNvPr id="11" name="Text 7"/>
          <p:cNvSpPr/>
          <p:nvPr/>
        </p:nvSpPr>
        <p:spPr>
          <a:xfrm>
            <a:off x="2738438" y="2038350"/>
            <a:ext cx="1700213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多模态感知系统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738438" y="2290763"/>
            <a:ext cx="1700213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集成RGB摄像头、深度相机和超声波传感器。实现对垃圾目标的视觉与空间识别。提升环境感知精度与鲁棒性。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762500" y="1571625"/>
            <a:ext cx="1643063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875" dirty="0"/>
          </a:p>
        </p:txBody>
      </p:sp>
      <p:sp>
        <p:nvSpPr>
          <p:cNvPr id="14" name="Text 10"/>
          <p:cNvSpPr/>
          <p:nvPr/>
        </p:nvSpPr>
        <p:spPr>
          <a:xfrm>
            <a:off x="4705350" y="2038350"/>
            <a:ext cx="1700213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全方位目标识别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05350" y="2290763"/>
            <a:ext cx="1700213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融合多传感器数据，精准识别垃圾及周边环境。支持复杂场景下的目标定位。增强系统的智能判断能力。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729413" y="1571625"/>
            <a:ext cx="1643063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875" dirty="0"/>
          </a:p>
        </p:txBody>
      </p:sp>
      <p:sp>
        <p:nvSpPr>
          <p:cNvPr id="17" name="Text 13"/>
          <p:cNvSpPr/>
          <p:nvPr/>
        </p:nvSpPr>
        <p:spPr>
          <a:xfrm>
            <a:off x="6672263" y="2038350"/>
            <a:ext cx="1700213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履带式移动底盘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672263" y="2290763"/>
            <a:ext cx="1700213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搭载高通过性履带底盘。具备良好越障与地形适应能力。适用于不平整绿化带作业环境。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828675" y="3519488"/>
            <a:ext cx="1643063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875" dirty="0"/>
          </a:p>
        </p:txBody>
      </p:sp>
      <p:sp>
        <p:nvSpPr>
          <p:cNvPr id="20" name="Text 16"/>
          <p:cNvSpPr/>
          <p:nvPr/>
        </p:nvSpPr>
        <p:spPr>
          <a:xfrm>
            <a:off x="771525" y="3986213"/>
            <a:ext cx="1700213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复杂地形适应性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771525" y="4238625"/>
            <a:ext cx="1700213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专为绿化带等复杂场景设计。可稳定运行于松软或起伏地面。提升户外作业的可靠性与效率。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2795588" y="3519488"/>
            <a:ext cx="1643063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875" dirty="0"/>
          </a:p>
        </p:txBody>
      </p:sp>
      <p:sp>
        <p:nvSpPr>
          <p:cNvPr id="23" name="Text 19"/>
          <p:cNvSpPr/>
          <p:nvPr/>
        </p:nvSpPr>
        <p:spPr>
          <a:xfrm>
            <a:off x="2738438" y="3986213"/>
            <a:ext cx="1700213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模块化扩展设计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2738438" y="4238625"/>
            <a:ext cx="1700213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提供模块化接口便于功能扩展。支持灵活更换或升级组件。提高系统长期使用价值。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762500" y="3519488"/>
            <a:ext cx="1643063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875" dirty="0"/>
          </a:p>
        </p:txBody>
      </p:sp>
      <p:sp>
        <p:nvSpPr>
          <p:cNvPr id="26" name="Text 22"/>
          <p:cNvSpPr/>
          <p:nvPr/>
        </p:nvSpPr>
        <p:spPr>
          <a:xfrm>
            <a:off x="4705350" y="3986213"/>
            <a:ext cx="1700213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通信电源接口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705350" y="4238625"/>
            <a:ext cx="1700213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预留多种标准通信与电源接口。方便外设接入与系统互联。增强整体集成能力。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6729413" y="3519488"/>
            <a:ext cx="1643063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1875" dirty="0"/>
          </a:p>
        </p:txBody>
      </p:sp>
      <p:sp>
        <p:nvSpPr>
          <p:cNvPr id="29" name="Text 25"/>
          <p:cNvSpPr/>
          <p:nvPr/>
        </p:nvSpPr>
        <p:spPr>
          <a:xfrm>
            <a:off x="6672263" y="3986213"/>
            <a:ext cx="1700213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系统灵活性高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672263" y="4238625"/>
            <a:ext cx="1700213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支持功能升级与设备拓展。降低维护成本与停机时间。提升可维护性与应用适应性。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融合AI视觉识别、路径规划与远程运维的软件功能体系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1447800"/>
            <a:ext cx="2085975" cy="25479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22885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AI视觉识别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519363"/>
            <a:ext cx="1381125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基于深度学习模型精准识别花坛内常见垃圾，支持多类别分类与小目标检测，提升清理准确率。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86025" y="1447800"/>
            <a:ext cx="2085975" cy="25479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38450" y="222885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自主路径规划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838450" y="2519363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结合环境感知动态生成最优清扫路径，实现自主避障与区域全覆盖，适应复杂绿化带地形。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72000" y="1447800"/>
            <a:ext cx="2085975" cy="25479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24425" y="222885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远程监控运维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924425" y="2519363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通过云端平台实时监控设备状态，支持远程诊断、任务调度与固件升级，降低维护成本。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57975" y="1447800"/>
            <a:ext cx="2085975" cy="254793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10400" y="222885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数据反馈优化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010400" y="2519363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自动收集作业数据并分析清洁效率，持续优化算法策略，提升系统智能水平与运行稳定性。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16162" b="16162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基于LanderPi平台与ROS2中间件构建模块化软件框架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428750"/>
            <a:ext cx="8382000" cy="35242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43063" y="3048000"/>
            <a:ext cx="10763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系统架构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3767137" y="157162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模块集成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5033963" y="1466850"/>
            <a:ext cx="29718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感知、决策、控制模块松耦合，提升系统灵活性。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5033963" y="1714500"/>
            <a:ext cx="29718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支持动态启停与故障隔离，增强运行稳定性。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3767137" y="216217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通信机制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033963" y="2057400"/>
            <a:ext cx="29718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基于ROS2话题实现节点间高效数据传输。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5033963" y="2305050"/>
            <a:ext cx="29718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通过服务机制完成请求响应式交互，保障实时性。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3767137" y="275272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实时性能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033963" y="2647950"/>
            <a:ext cx="28384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消息传递低延迟，满足控制系统实时响应需求。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033963" y="2895600"/>
            <a:ext cx="28384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节点间异步协作，提高整体处理效率。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3767137" y="334327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分布计算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033963" y="3238500"/>
            <a:ext cx="28384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利用ROS2分布式能力，实现跨设备协同运算。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033963" y="3486150"/>
            <a:ext cx="28384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支持多节点网络部署，增强系统负载均衡能力。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3767137" y="393382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可维护性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033963" y="3829050"/>
            <a:ext cx="24384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模块独立升级不影响整体系统运行。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5033963" y="4076700"/>
            <a:ext cx="24384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接口标准化，便于问题定位与功能替换。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3767137" y="4524375"/>
            <a:ext cx="847725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扩展能力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033963" y="4419600"/>
            <a:ext cx="23050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易于接入新传感器或执行器硬件。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5033963" y="4667250"/>
            <a:ext cx="23050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支持快速集成新算法，加速迭代开发。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16162" b="16162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重点突破复杂场景下的小目标垃圾检测与分类精度问题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71500" y="2000250"/>
            <a:ext cx="24130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8ABA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328863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多模态感知融合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71500" y="2576513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结合RGB摄像头与深度传感器数据，提升低光照、遮挡等复杂环境下小目标垃圾的检出率。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365500" y="2000250"/>
            <a:ext cx="24130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8ABA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365500" y="2328863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轻量化AI模型设计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365500" y="2576513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基于YOLOv8n定制化训练垃圾识别模型，在树莓派5上实现高效实时推理与分类。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159500" y="2000250"/>
            <a:ext cx="24130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8ABA4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159500" y="2328863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动态样本增强策略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159500" y="2576513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引入环境自适应的数据增广方法，持续优化模型对多样垃圾形态的泛化识别能力。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面向政府与企业客户的B2G/B2B整机销售核心模式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2019300"/>
            <a:ext cx="2085975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869406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目标客户明确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3159919"/>
            <a:ext cx="138112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聚焦市政环卫部门与高端商业物业，需求刚性且采购预算稳定。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86025" y="2019300"/>
            <a:ext cx="2085975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38450" y="2869406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直销为主渠道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838450" y="3159919"/>
            <a:ext cx="138112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通过行业展会、政府对接会建立联系，直接推动项目落地。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72000" y="2019300"/>
            <a:ext cx="2085975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24425" y="2869406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批量采购优势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924425" y="3159919"/>
            <a:ext cx="138112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支持多台设备集中交付，降低单位成本，提升客户采纳意愿。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57975" y="2019300"/>
            <a:ext cx="2085975" cy="22669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10400" y="2869406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合同绑定服务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010400" y="3159919"/>
            <a:ext cx="138112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销售同时签署运维协议，保障长期合作与持续收益。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采用成本加成定价策略，确保市场竞争力与利润空间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2000250"/>
            <a:ext cx="8382000" cy="23717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320516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确定基础定价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3457575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基于研发、制造及运营成本确定基础价格，确保全周期投入得到有效覆盖，保障项目经济可行性。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313" y="224790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附加合理毛利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2500312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在成本基础上附加15%-20%的毛利，平衡企业盈利需求与客户采购承受能力，实现可持续发展。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186488" y="224790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对标市场行情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186488" y="2500312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参考同类智能环卫设备的市场价格，保持定价的竞争优势，增强产品在市场中的吸引力。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186488" y="320516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灵活调整策略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186488" y="3457575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结合订单规模与区域政策进行动态调整，提升商务谈判的弹性，适应不同市场需求。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16162" b="16162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延伸提供设备托管、数据报告等可持续增值服务链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428750"/>
            <a:ext cx="8382000" cy="3276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98215" y="2366963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780752" y="3595688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全周期运维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304502" y="3848100"/>
            <a:ext cx="21685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提供设备从部署到退役的全流程托管服务，覆盖维护、升级与监控环节，确保稳定运行。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2452390" y="3128962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2034927" y="1466850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数据驱动分析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558677" y="1719263"/>
            <a:ext cx="21685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利用采集数据评估环境卫生成效，识别优化点，提升管理精准度。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3706564" y="2366963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289102" y="3595688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远程诊断预警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2812852" y="3848100"/>
            <a:ext cx="21685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通过云端实现故障实时监测，提前预警潜在问题，减少停机时间。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960739" y="3128962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543276" y="1466850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订阅增值服务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067026" y="1719263"/>
            <a:ext cx="21685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按需提供扩展功能服务，灵活匹配客户需求，增强使用灵活性。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214914" y="2366963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797451" y="3595688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智能管理方案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321201" y="3848100"/>
            <a:ext cx="21685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集成软硬件资源，打造一体化管控平台，降低操作与维护门槛。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7469088" y="3128962"/>
            <a:ext cx="38100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7051625" y="1466850"/>
            <a:ext cx="1216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降本增效收益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575375" y="1719263"/>
            <a:ext cx="21685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减少运维开支，提高设备效率，助力客户持续创造商业价值。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参与智慧城市与环卫科技展会，强化品牌专业形象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2000250"/>
            <a:ext cx="8382000" cy="23717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320516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精准锁定客户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3457575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聚焦智慧城市与智能环卫领域，锁定目标客户群体，提升品牌在垂直行业的相关性与影响力。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313" y="224790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展示智能场景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2500312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通过实物演示或动态视频直观呈现“绿卫士”的智能化作业场景，突出产品的实际应用价值。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186488" y="224790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强化技术形象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186488" y="2500312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现场安排技术团队讲解并参与论坛演讲，展现专业能力，增强品牌的技术可信度。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186488" y="320516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线上线下联动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186488" y="3457575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联合行业媒体发布展会动态，实现线下展示与线上传播的高效协同，构建全方位品牌曝光闭环。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通过数字媒体矩阵传播技术亮点，扩大市场认知度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39875" y="200025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5908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精准定位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838450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聚焦智慧城市、智能环卫领域受众，锁定政府官网、行业媒体及科技平台进行内容投放。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33875" y="200025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65500" y="25908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内容分发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65500" y="2838450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制作短视频、技术白皮书与案例解析，多渠道同步传播产品AI识别与自主导航核心优势。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127875" y="2000250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9500" y="25908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互动运营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159500" y="2838450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通过社交媒体问答、直播演示增强用户参与，建立专业品牌形象并引导潜在客户咨询。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16162" b="16162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初期投入涵盖研发验证、原型试制与首批市场推广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428750"/>
            <a:ext cx="8382000" cy="34004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14775" y="1885950"/>
            <a:ext cx="131445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产品开发推进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76275" y="3128962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技术攻关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876300" y="3457575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聚焦核心技术突破，提升系统整体稳定性。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876300" y="4124325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开展集成测试验证，确保各模块协同运行。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2009775" y="3128962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样机试制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2209800" y="3457575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完成首台工程样机装配，实现设计功能落地。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2209800" y="4124325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开展实地运行测试，收集环境适应性数据。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3343275" y="3128962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性能优化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543300" y="3457575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持续改进结构设计，提高设备可靠性。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3543300" y="4124325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优化关键性能参数，增强产品竞争力。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676775" y="3128962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市场推广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876800" y="3457575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在试点城市开展宣传，扩大产品影响力。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876800" y="4124325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推进客户对接合作，了解实际需求反馈。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010275" y="3128962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品牌建设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210300" y="3457575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通过示范应用建立专业品牌形象。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210300" y="4124325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积累用户口碑，逐步提升市场认知度。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7343775" y="3128962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资金管理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7543800" y="3457575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科学分配研发经费，保障关键环节投入。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7543800" y="4124325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统筹试制与推广预算，实现高效资源利用。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16162" b="16162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预计第三年实现盈亏平衡，五年内形成稳定盈利曲线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428750"/>
            <a:ext cx="8382000" cy="27384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5313" y="310515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研发试制期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95313" y="3357563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前两年聚焦研发与试制，投入集中于原型开发和测试验证，奠定产品技术基础。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595313" y="2338388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市场初步推广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5313" y="2590800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同步开展初步市场推广，提升产品认知度，为后续销售和交付积累客户资源。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595313" y="157162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硬件驱动收入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95313" y="1824038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初期收入以硬件销售为核心，形成主要现金流来源，支撑业务持续运转。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186488" y="146685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拓展运维服务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186488" y="1719263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逐步发展运维服务业务，丰富收入结构，推动向服务化转型。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186488" y="223361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实现盈亏平衡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186488" y="2486025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预计第三年通过规模化交付与成本优化，达到盈亏平衡，进入良性发展阶段。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186488" y="320992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稳定盈利阶段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86488" y="3462337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第五年进入稳定盈利期，服务收入占比提升，增强收益可持续性与抗风险能力。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16162" b="16162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缓解政府采购周期长与预算波动带来的市场不确定性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1428750"/>
            <a:ext cx="8382000" cy="34004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14775" y="1885950"/>
            <a:ext cx="1314450" cy="2762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商业模式创新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76275" y="3128962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分期交付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876300" y="3457575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分阶段交货，缓解客户一次性付款压力。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876300" y="4124325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匹配财政拨款周期，提高项目可执行性。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2009775" y="3128962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设备租赁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2209800" y="3457575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降低初期预算门槛，吸引资金紧张客户。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2209800" y="4124325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提升资源配置灵活性，加快项目启动速度。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3343275" y="3128962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试点示范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543300" y="3457575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通过小规模验证技术可行性与成效。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3543300" y="4124325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建立政府信任，为后续大规模合作铺路。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676775" y="3128962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多元布局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876800" y="3457575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拓展物业场景，挖掘城市服务新需求。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876800" y="4124325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进入景区领域，探索非政采市场潜力。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010275" y="3128962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CC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风险分散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210300" y="3457575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减少对单一政府采购市场的依赖。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210300" y="4124325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增强收入稳定性，提升抗风险能力。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7343775" y="3128962"/>
            <a:ext cx="11049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31AB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信任构建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7543800" y="3457575"/>
            <a:ext cx="10096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以实际成效赢得政府部门认可。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7543800" y="3914775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推动长期合作机制的形成与落地。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前瞻布局专利与迭代路线，防范潜在竞争对手入场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专利壁垒构建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247900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围绕核心算法与结构设计申请多项发明专利，形成技术护城河。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667000" y="200025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软件持续迭代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667000" y="2247900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基于ROS2模块化架构，定期更新识别模型与导航策略提升性能。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62500" y="200025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硬件平台演进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62500" y="2247900"/>
            <a:ext cx="17145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规划多代机型升级路径，适配更复杂场景并降低成本。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58000" y="200025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生态体系布局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0" y="2247900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开放数据接口与运维平台，增强客户粘性与系统兼容门槛。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‘绿卫士’为城市公共空间治理提供可复制的技术解决方案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2019300"/>
            <a:ext cx="2781151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86940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技术可复制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315991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基于ROS2的模块化架构，适配多种城市微场景，实现快速部署与功能扩展。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181201" y="2019300"/>
            <a:ext cx="2781151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86940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模式可推广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315991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通过标准化产品与服务流程，形成可在不同城市复制的智能环卫解决方案。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62352" y="2019300"/>
            <a:ext cx="2781151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86940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治理可持续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315991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提升城市保洁效率与精细化水平，助力构建长效化、智能化的公共空间治理体系。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未来将拓展至更多城市微更新场景，构建智能环卫生态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2019300"/>
            <a:ext cx="2781151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86940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场景延伸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315991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从花坛绿化带扩展至人行道缝隙、广场角落等城市微空间，实现多场景自动清洁覆盖。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181201" y="2019300"/>
            <a:ext cx="2781151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86940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功能升级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315991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集成环境监测、设施巡检等功能，提升机器人在城市治理中的综合服务能力。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62352" y="2019300"/>
            <a:ext cx="2781151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974181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生态构建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3264694"/>
            <a:ext cx="2076301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通过数据互联与平台开放，联动市政系统，打造智能环卫协同网络。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zh-CN" altLang="en-US" sz="5400" b="1" dirty="0"/>
              <a:t>敬请各位专家批评指正</a:t>
            </a:r>
            <a:endParaRPr lang="zh-CN" altLang="en-US" sz="54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4512</Words>
  <Application>WPS 演示</Application>
  <PresentationFormat>On-screen Show (16:9)</PresentationFormat>
  <Paragraphs>522</Paragraphs>
  <Slides>21</Slides>
  <Notes>42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等线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WPS_1648991700</cp:lastModifiedBy>
  <cp:revision>2</cp:revision>
  <dcterms:created xsi:type="dcterms:W3CDTF">2026-01-05T12:19:00Z</dcterms:created>
  <dcterms:modified xsi:type="dcterms:W3CDTF">2026-01-05T12:23:55Z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7F7CFCD76D064B3B997C7C020F300846_13</vt:lpwstr>
  </property>
  <property fmtid="{D5CDD505-2E9C-101B-9397-08002B2CF9AE}" pid="3" name="KSOProductBuildVer">
    <vt:lpwstr>2052-12.1.0.24034</vt:lpwstr>
  </property>
</Properties>
</file>